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1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8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6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9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7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70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6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7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2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8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5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95BAC-3298-4C14-BA3F-98ED39CD09C3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F56C1-4BA9-4567-AE09-8B3BB892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604000" y="-1524000"/>
            <a:ext cx="7874000" cy="7874000"/>
          </a:xfrm>
          <a:prstGeom prst="ellipse">
            <a:avLst/>
          </a:prstGeom>
          <a:solidFill>
            <a:srgbClr val="FFCC00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2032000" y="3810000"/>
            <a:ext cx="6604000" cy="6604000"/>
          </a:xfrm>
          <a:prstGeom prst="ellipse">
            <a:avLst/>
          </a:prstGeom>
          <a:solidFill>
            <a:srgbClr val="4084F0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584200"/>
            <a:ext cx="1016000" cy="977900"/>
          </a:xfrm>
          <a:prstGeom prst="rect">
            <a:avLst/>
          </a:prstGeom>
          <a:effectLst>
            <a:innerShdw blurRad="228600" dist="101600" dir="5400000">
              <a:srgbClr val="000000">
                <a:alpha val="60000"/>
              </a:srgbClr>
            </a:innerShdw>
          </a:effectLst>
        </p:spPr>
      </p:pic>
      <p:sp>
        <p:nvSpPr>
          <p:cNvPr id="5" name="TextBox 4"/>
          <p:cNvSpPr txBox="1"/>
          <p:nvPr/>
        </p:nvSpPr>
        <p:spPr>
          <a:xfrm>
            <a:off x="1016000" y="1752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WELCOME2GH  ·  A STORY ABOUT BELONGING IN A NEW CITY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03706" y="2161113"/>
            <a:ext cx="4584588" cy="1138773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77800">
            <a:bevelT prst="convex"/>
            <a:extrusionClr>
              <a:srgbClr val="C49608"/>
            </a:extrusionClr>
          </a:sp3d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74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Akwaaba.</a:t>
            </a:r>
            <a:endParaRPr lang="en-US" sz="74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000" y="3619500"/>
            <a:ext cx="838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mtClean="0">
                <a:solidFill>
                  <a:srgbClr val="F5F7FA"/>
                </a:solidFill>
                <a:latin typeface="Segoe UI Semibold" panose="020B0702040204020203" pitchFamily="34" charset="0"/>
              </a:rPr>
              <a:t>Every newcomer deserves to feel at home. This is the story of how one of them did.</a:t>
            </a:r>
            <a:endParaRPr lang="en-US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75000" y="4724400"/>
            <a:ext cx="5842000" cy="812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29000" y="4826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Mohamed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51308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smtClean="0">
                <a:solidFill>
                  <a:srgbClr val="96A6BC"/>
                </a:solidFill>
                <a:latin typeface="Segoe UI" panose="020B0502040204020203" pitchFamily="34" charset="0"/>
              </a:rPr>
              <a:t>Wisconsin International University College (WIUC)  ·  Accra, 2026</a:t>
            </a:r>
            <a:endParaRPr lang="en-US" sz="12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6000" y="57912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LIVE  ·  welcome2gh.vercel.app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4448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52000" y="-1524000"/>
            <a:ext cx="6604000" cy="6604000"/>
          </a:xfrm>
          <a:prstGeom prst="ellipse">
            <a:avLst/>
          </a:prstGeom>
          <a:solidFill>
            <a:srgbClr val="FFCC00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  ·  ARRIVAL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Meet Amara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206500" y="2222500"/>
            <a:ext cx="2667000" cy="2667000"/>
          </a:xfrm>
          <a:prstGeom prst="ellipse">
            <a:avLst/>
          </a:prstGeom>
          <a:solidFill>
            <a:srgbClr val="FFCC00"/>
          </a:solidFill>
          <a:ln w="25400">
            <a:solidFill>
              <a:srgbClr val="C49608"/>
            </a:solidFill>
          </a:ln>
          <a:effectLst>
            <a:innerShdw blurRad="279400" dist="152400" dir="5400000">
              <a:srgbClr val="000000">
                <a:alpha val="55000"/>
              </a:srgbClr>
            </a:innerShdw>
          </a:effectLst>
          <a:scene3d>
            <a:camera prst="orthographicFront"/>
            <a:lightRig rig="threePt" dir="t"/>
          </a:scene3d>
          <a:sp3d extrusionH="127000">
            <a:bevelT h="50800" prst="convex"/>
            <a:extrusionClr>
              <a:srgbClr val="C49608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06500" y="22606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0" b="1" smtClean="0">
                <a:solidFill>
                  <a:srgbClr val="0D1B2A"/>
                </a:solidFill>
                <a:latin typeface="Segoe UI Black" panose="020B0A02040204020203" pitchFamily="34" charset="0"/>
              </a:rPr>
              <a:t>A</a:t>
            </a:r>
            <a:endParaRPr lang="en-US" sz="12000" b="1">
              <a:solidFill>
                <a:srgbClr val="0D1B2A"/>
              </a:solidFill>
              <a:latin typeface="Segoe UI Black" panose="020B0A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6500" y="50292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96A6BC"/>
                </a:solidFill>
                <a:latin typeface="Segoe UI" panose="020B0502040204020203" pitchFamily="34" charset="0"/>
              </a:rPr>
              <a:t>first time in Accra</a:t>
            </a:r>
            <a:endParaRPr lang="en-US" sz="13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2260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Amara</a:t>
            </a:r>
            <a:endParaRPr lang="en-US" sz="36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279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21  ·  International student  ·  From Lagos, Nigeria</a:t>
            </a:r>
            <a:endParaRPr lang="en-US" sz="15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3251200"/>
            <a:ext cx="647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600" smtClean="0">
                <a:solidFill>
                  <a:srgbClr val="F5F7FA"/>
                </a:solidFill>
                <a:latin typeface="Segoe UI" panose="020B0502040204020203" pitchFamily="34" charset="0"/>
              </a:rPr>
              <a:t>Today she lands in Accra for the very first time - a new face at WIUC, four hundred miles and a whole border from everything familiar. She is full of hope. She is also completely on her own.</a:t>
            </a:r>
            <a:endParaRPr lang="en-US" sz="16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4724400"/>
            <a:ext cx="1940560" cy="355600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63500" dist="25400" dir="5400000">
              <a:srgbClr val="000000">
                <a:alpha val="4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0" y="4724400"/>
            <a:ext cx="19405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First time in Ghana</a:t>
            </a:r>
            <a:endParaRPr lang="en-US" sz="115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39560" y="4724400"/>
            <a:ext cx="1666240" cy="355600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63500" dist="25400" dir="5400000">
              <a:srgbClr val="000000">
                <a:alpha val="4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639560" y="4724400"/>
            <a:ext cx="166624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Knows no one yet</a:t>
            </a:r>
            <a:endParaRPr lang="en-US" sz="115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32800" y="4724400"/>
            <a:ext cx="2032000" cy="355600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63500" dist="25400" dir="5400000">
              <a:srgbClr val="000000">
                <a:alpha val="4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432800" y="47244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5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One phone, one dream</a:t>
            </a:r>
            <a:endParaRPr lang="en-US" sz="115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3522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28000" y="-1778000"/>
            <a:ext cx="6604000" cy="6604000"/>
          </a:xfrm>
          <a:prstGeom prst="ellipse">
            <a:avLst/>
          </a:prstGeom>
          <a:solidFill>
            <a:srgbClr val="E53935">
              <a:alpha val="9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  ·  DAY ONE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The City Starts to Test Her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550" smtClean="0">
                <a:solidFill>
                  <a:srgbClr val="F5F7FA"/>
                </a:solidFill>
                <a:latin typeface="Segoe UI" panose="020B0502040204020203" pitchFamily="34" charset="0"/>
              </a:rPr>
              <a:t>She steps out of Kotoka Airport into the noise and the heat. Within hours, Accra asks three questions she cannot answer.</a:t>
            </a:r>
            <a:endParaRPr lang="en-US" sz="155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" y="2286000"/>
            <a:ext cx="3505200" cy="31750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133600" y="2590800"/>
            <a:ext cx="762000" cy="762000"/>
          </a:xfrm>
          <a:prstGeom prst="ellipse">
            <a:avLst/>
          </a:prstGeom>
          <a:solidFill>
            <a:srgbClr val="2A1E1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A0E0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33600" y="26035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Emoji" panose="020B0502040204020203" pitchFamily="34" charset="0"/>
              </a:rPr>
              <a:t>🧭</a:t>
            </a:r>
            <a:endParaRPr lang="en-US" sz="30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353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Which way is home?</a:t>
            </a:r>
            <a:endParaRPr lang="en-US" sz="17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6000" y="396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96A6BC"/>
                </a:solidFill>
                <a:latin typeface="Segoe UI" panose="020B0502040204020203" pitchFamily="34" charset="0"/>
              </a:rPr>
              <a:t>The streets blur together. Every junction looks the same, and the map on her phone does not speak Accra.</a:t>
            </a:r>
            <a:endParaRPr lang="en-US" sz="13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95800" y="2286000"/>
            <a:ext cx="3505200" cy="31750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867400" y="2590800"/>
            <a:ext cx="762000" cy="762000"/>
          </a:xfrm>
          <a:prstGeom prst="ellipse">
            <a:avLst/>
          </a:prstGeom>
          <a:solidFill>
            <a:srgbClr val="2A1E1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A0E0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867400" y="26035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Emoji" panose="020B0502040204020203" pitchFamily="34" charset="0"/>
              </a:rPr>
              <a:t>💸</a:t>
            </a:r>
            <a:endParaRPr lang="en-US" sz="30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353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Is this the real price?</a:t>
            </a:r>
            <a:endParaRPr lang="en-US" sz="17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49800" y="396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96A6BC"/>
                </a:solidFill>
                <a:latin typeface="Segoe UI" panose="020B0502040204020203" pitchFamily="34" charset="0"/>
              </a:rPr>
              <a:t>A taxi driver names a number. She has no idea it is three times too high. Tired and unsure, she pays.</a:t>
            </a:r>
            <a:endParaRPr lang="en-US" sz="13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2286000"/>
            <a:ext cx="3505200" cy="31750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601200" y="2590800"/>
            <a:ext cx="762000" cy="762000"/>
          </a:xfrm>
          <a:prstGeom prst="ellipse">
            <a:avLst/>
          </a:prstGeom>
          <a:solidFill>
            <a:srgbClr val="2A1E1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A0E0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601200" y="26035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Emoji" panose="020B0502040204020203" pitchFamily="34" charset="0"/>
              </a:rPr>
              <a:t>⚠️</a:t>
            </a:r>
            <a:endParaRPr lang="en-US" sz="30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58200" y="353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Is it safe here?</a:t>
            </a:r>
            <a:endParaRPr lang="en-US" sz="17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83600" y="3962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96A6BC"/>
                </a:solidFill>
                <a:latin typeface="Segoe UI" panose="020B0502040204020203" pitchFamily="34" charset="0"/>
              </a:rPr>
              <a:t>A classmate warns, 'don't go there after dark.' But Amara has no way of knowing where 'there' even is.</a:t>
            </a:r>
            <a:endParaRPr lang="en-US" sz="13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8876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96000" y="4572000"/>
            <a:ext cx="7874000" cy="7874000"/>
          </a:xfrm>
          <a:prstGeom prst="ellipse">
            <a:avLst/>
          </a:prstGeom>
          <a:solidFill>
            <a:srgbClr val="E53935">
              <a:alpha val="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2032000" y="-2032000"/>
            <a:ext cx="5842000" cy="5842000"/>
          </a:xfrm>
          <a:prstGeom prst="ellipse">
            <a:avLst/>
          </a:prstGeom>
          <a:solidFill>
            <a:srgbClr val="4084F0">
              <a:alpha val="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Light" panose="020B0502040204020203" pitchFamily="34" charset="0"/>
              </a:rPr>
              <a:t>By the end of her first week,</a:t>
            </a:r>
            <a:endParaRPr lang="en-US" sz="3000">
              <a:solidFill>
                <a:srgbClr val="F5F7FA"/>
              </a:solidFill>
              <a:latin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6000" y="2514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0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Accra felt less like a welcome</a:t>
            </a:r>
            <a:endParaRPr lang="en-US" sz="40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6000" y="332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and more like a wall.</a:t>
            </a:r>
            <a:endParaRPr lang="en-US" sz="4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0" y="4445000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700" smtClean="0">
                <a:solidFill>
                  <a:srgbClr val="96A6BC"/>
                </a:solidFill>
                <a:latin typeface="Segoe UI" panose="020B0502040204020203" pitchFamily="34" charset="0"/>
              </a:rPr>
              <a:t>She was not unwelcome. She was just unguided.</a:t>
            </a:r>
            <a:endParaRPr lang="en-US" sz="17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2322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524000"/>
            <a:ext cx="7112000" cy="7112000"/>
          </a:xfrm>
          <a:prstGeom prst="ellipse">
            <a:avLst/>
          </a:prstGeom>
          <a:solidFill>
            <a:srgbClr val="FFCC00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  ·  THE TURN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Then a Classmate Showed Her One App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63115" y="1727200"/>
            <a:ext cx="2223770" cy="4724400"/>
            <a:chOff x="2063115" y="1727200"/>
            <a:chExt cx="2223770" cy="4724400"/>
          </a:xfrm>
          <a:scene3d>
            <a:camera prst="orthographicFront">
              <a:rot lat="1200000" lon="240000" rev="0"/>
            </a:camera>
            <a:lightRig rig="threePt" dir="t"/>
          </a:scene3d>
        </p:grpSpPr>
        <p:sp>
          <p:nvSpPr>
            <p:cNvPr id="6" name="phf_5"/>
            <p:cNvSpPr/>
            <p:nvPr/>
          </p:nvSpPr>
          <p:spPr>
            <a:xfrm>
              <a:off x="2063115" y="1727200"/>
              <a:ext cx="2223770" cy="4724400"/>
            </a:xfrm>
            <a:prstGeom prst="roundRect">
              <a:avLst>
                <a:gd name="adj" fmla="val 13000"/>
              </a:avLst>
            </a:prstGeom>
            <a:solidFill>
              <a:srgbClr val="080C12"/>
            </a:solidFill>
            <a:ln w="19050">
              <a:solidFill>
                <a:srgbClr val="FFCC00"/>
              </a:solidFill>
            </a:ln>
            <a:effectLst>
              <a:innerShdw blurRad="330200" dist="203200" dir="5400000">
                <a:srgbClr val="000000">
                  <a:alpha val="55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hp_5"/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2015" y="1816100"/>
              <a:ext cx="2045970" cy="4546600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969000" y="20066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600" smtClean="0">
                <a:solidFill>
                  <a:srgbClr val="F5F7FA"/>
                </a:solidFill>
                <a:latin typeface="Segoe UI" panose="020B0502040204020203" pitchFamily="34" charset="0"/>
              </a:rPr>
              <a:t>Welcome2GH. A guide built for exactly this moment - made by someone who had arrived as a stranger too. For the first time since she landed, Amara was not facing Accra alone.</a:t>
            </a:r>
            <a:endParaRPr lang="en-US" sz="16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9000" y="38100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Find her way - confidently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Pay what locals pay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Ask anything, anytime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Belong to a community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Know where is safe</a:t>
            </a:r>
            <a:endParaRPr lang="en-US" sz="15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50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32000" y="3810000"/>
            <a:ext cx="6604000" cy="6604000"/>
          </a:xfrm>
          <a:prstGeom prst="ellipse">
            <a:avLst/>
          </a:prstGeom>
          <a:solidFill>
            <a:srgbClr val="4084F0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  ·  SCENE ONE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Finally, She Knew Where She Was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540115" y="1727200"/>
            <a:ext cx="2223771" cy="4724400"/>
            <a:chOff x="8540115" y="1727200"/>
            <a:chExt cx="2223771" cy="4724400"/>
          </a:xfrm>
        </p:grpSpPr>
        <p:sp>
          <p:nvSpPr>
            <p:cNvPr id="6" name="phf_6"/>
            <p:cNvSpPr/>
            <p:nvPr/>
          </p:nvSpPr>
          <p:spPr>
            <a:xfrm>
              <a:off x="8540115" y="1727200"/>
              <a:ext cx="2223771" cy="4724400"/>
            </a:xfrm>
            <a:prstGeom prst="roundRect">
              <a:avLst>
                <a:gd name="adj" fmla="val 13000"/>
              </a:avLst>
            </a:prstGeom>
            <a:solidFill>
              <a:srgbClr val="080C12"/>
            </a:solidFill>
            <a:ln w="19050">
              <a:solidFill>
                <a:srgbClr val="FFCC00"/>
              </a:solidFill>
            </a:ln>
            <a:effectLst>
              <a:innerShdw blurRad="330200" dist="203200" dir="5400000">
                <a:srgbClr val="000000">
                  <a:alpha val="55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hp_6"/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9015" y="1816100"/>
              <a:ext cx="2045970" cy="4546600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62000" y="20066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700" smtClean="0">
                <a:solidFill>
                  <a:srgbClr val="F5F7FA"/>
                </a:solidFill>
                <a:latin typeface="Segoe UI" panose="020B0502040204020203" pitchFamily="34" charset="0"/>
              </a:rPr>
              <a:t>The map knew Accra better than she did. Live directions that actually fit the city. Real walking and taxi times, not guesses. And a glowing dot that followed her every step of the way home. No more wrong turns. No more standing on a corner, lost.</a:t>
            </a:r>
            <a:endParaRPr lang="en-US" sz="17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62000" y="5041900"/>
            <a:ext cx="114300" cy="114300"/>
          </a:xfrm>
          <a:prstGeom prst="ellipse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4978400"/>
            <a:ext cx="6883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smtClean="0">
                <a:solidFill>
                  <a:srgbClr val="FFCC00"/>
                </a:solidFill>
                <a:latin typeface="Segoe UI Semibold" panose="020B0702040204020203" pitchFamily="34" charset="0"/>
              </a:rPr>
              <a:t>Powered by OpenStreetMap + OSRM routing + live GPS - turn-by-turn, no API keys.</a:t>
            </a:r>
            <a:endParaRPr lang="en-US" sz="1200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787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0" y="-1524000"/>
            <a:ext cx="6604000" cy="6604000"/>
          </a:xfrm>
          <a:prstGeom prst="ellipse">
            <a:avLst/>
          </a:prstGeom>
          <a:solidFill>
            <a:srgbClr val="FFCC00">
              <a:alpha val="11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  ·  SCENE TWO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The Next Driver Tried the Same Trick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700" smtClean="0">
                <a:solidFill>
                  <a:srgbClr val="F5F7FA"/>
                </a:solidFill>
                <a:latin typeface="Segoe UI" panose="020B0502040204020203" pitchFamily="34" charset="0"/>
              </a:rPr>
              <a:t>But this time, Amara already knew the fair price - submitted and verified by people who had stood exactly where she stood. She smiled, named the real number, and paid it. A small moment. A huge feeling.</a:t>
            </a:r>
            <a:endParaRPr lang="en-US" sz="17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0" y="2222500"/>
            <a:ext cx="3810000" cy="1397000"/>
          </a:xfrm>
          <a:prstGeom prst="roundRect">
            <a:avLst>
              <a:gd name="adj" fmla="val 7000"/>
            </a:avLst>
          </a:prstGeom>
          <a:solidFill>
            <a:srgbClr val="2A1A1A"/>
          </a:solidFill>
          <a:ln w="12700">
            <a:solidFill>
              <a:srgbClr val="5A3232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22121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0" y="2387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 smtClean="0">
                <a:solidFill>
                  <a:srgbClr val="FF8A8A"/>
                </a:solidFill>
                <a:latin typeface="Segoe UI Semibold" panose="020B0702040204020203" pitchFamily="34" charset="0"/>
              </a:rPr>
              <a:t>WHAT TOURISTS PAY</a:t>
            </a:r>
            <a:endParaRPr lang="en-US" sz="1200" b="1">
              <a:solidFill>
                <a:srgbClr val="FF8A8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0" y="2667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4000" b="1" smtClean="0">
                <a:solidFill>
                  <a:srgbClr val="FF8A8A"/>
                </a:solidFill>
                <a:latin typeface="Segoe UI Black" panose="020B0A02040204020203" pitchFamily="34" charset="0"/>
              </a:rPr>
              <a:t>GHS 60</a:t>
            </a:r>
            <a:endParaRPr lang="en-US" sz="4000" b="1">
              <a:solidFill>
                <a:srgbClr val="FF8A8A"/>
              </a:solidFill>
              <a:latin typeface="Segoe UI Black" panose="020B0A02040204020203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 rot="5400000">
            <a:off x="9144000" y="3708400"/>
            <a:ext cx="762000" cy="330200"/>
          </a:xfrm>
          <a:prstGeom prst="rightArrow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>
            <a:innerShdw blurRad="76200" dist="38100" dir="5400000">
              <a:srgbClr val="000000">
                <a:alpha val="50000"/>
              </a:srgbClr>
            </a:inn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620000" y="4191000"/>
            <a:ext cx="3810000" cy="1397000"/>
          </a:xfrm>
          <a:prstGeom prst="roundRect">
            <a:avLst>
              <a:gd name="adj" fmla="val 7000"/>
            </a:avLst>
          </a:prstGeom>
          <a:solidFill>
            <a:srgbClr val="16281A"/>
          </a:solidFill>
          <a:ln w="12700">
            <a:solidFill>
              <a:srgbClr val="325C38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0E201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620000" y="43561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 smtClean="0">
                <a:solidFill>
                  <a:srgbClr val="8AE696"/>
                </a:solidFill>
                <a:latin typeface="Segoe UI Semibold" panose="020B0702040204020203" pitchFamily="34" charset="0"/>
              </a:rPr>
              <a:t>THE FAIR PRICE</a:t>
            </a:r>
            <a:endParaRPr lang="en-US" sz="1200" b="1">
              <a:solidFill>
                <a:srgbClr val="8AE696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0" y="46355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4000" b="1" smtClean="0">
                <a:solidFill>
                  <a:srgbClr val="8AE696"/>
                </a:solidFill>
                <a:latin typeface="Segoe UI Black" panose="020B0A02040204020203" pitchFamily="34" charset="0"/>
              </a:rPr>
              <a:t>GHS 20</a:t>
            </a:r>
            <a:endParaRPr lang="en-US" sz="4000" b="1">
              <a:solidFill>
                <a:srgbClr val="8AE696"/>
              </a:solidFill>
              <a:latin typeface="Segoe UI Black" panose="020B0A02040204020203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2000" y="5041900"/>
            <a:ext cx="114300" cy="114300"/>
          </a:xfrm>
          <a:prstGeom prst="ellipse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90600" y="4978400"/>
            <a:ext cx="6121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smtClean="0">
                <a:solidFill>
                  <a:srgbClr val="FFCC00"/>
                </a:solidFill>
                <a:latin typeface="Segoe UI Semibold" panose="020B0702040204020203" pitchFamily="34" charset="0"/>
              </a:rPr>
              <a:t>Community-reported, verified prices - so no one pays the 'visitor tax'.</a:t>
            </a:r>
            <a:endParaRPr lang="en-US" sz="1200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9418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778000" y="-1651000"/>
            <a:ext cx="6350000" cy="6350000"/>
          </a:xfrm>
          <a:prstGeom prst="ellipse">
            <a:avLst/>
          </a:prstGeom>
          <a:solidFill>
            <a:srgbClr val="4084F0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9144000" y="4318000"/>
            <a:ext cx="5842000" cy="5842000"/>
          </a:xfrm>
          <a:prstGeom prst="ellipse">
            <a:avLst/>
          </a:prstGeom>
          <a:solidFill>
            <a:srgbClr val="FFCC00">
              <a:alpha val="9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  ·  SCENE THREE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She Asked. Accra Answered.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397000" y="2476500"/>
            <a:ext cx="1905000" cy="1905000"/>
          </a:xfrm>
          <a:prstGeom prst="ellipse">
            <a:avLst/>
          </a:prstGeom>
          <a:solidFill>
            <a:srgbClr val="241E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40E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397000" y="2489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7500" smtClean="0">
                <a:solidFill>
                  <a:srgbClr val="F5F7FA"/>
                </a:solidFill>
                <a:latin typeface="Segoe UI Emoji" panose="020B0502040204020203" pitchFamily="34" charset="0"/>
              </a:rPr>
              <a:t>🤖</a:t>
            </a:r>
            <a:endParaRPr lang="en-US" sz="75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10000" y="2286000"/>
            <a:ext cx="7620000" cy="12192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89400" y="2438400"/>
            <a:ext cx="706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smtClean="0">
                <a:solidFill>
                  <a:srgbClr val="FFCC00"/>
                </a:solidFill>
                <a:latin typeface="Segoe UI Light" panose="020B0502040204020203" pitchFamily="34" charset="0"/>
              </a:rPr>
              <a:t>"Where can I find good, safe, fairly-priced jollof near Osu - and is it okay to walk there tonight?"</a:t>
            </a:r>
            <a:endParaRPr lang="en-US" sz="1600">
              <a:solidFill>
                <a:srgbClr val="FFCC00"/>
              </a:solidFill>
              <a:latin typeface="Segoe UI Light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0000" y="3759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600" smtClean="0">
                <a:solidFill>
                  <a:srgbClr val="F5F7FA"/>
                </a:solidFill>
                <a:latin typeface="Segoe UI" panose="020B0502040204020203" pitchFamily="34" charset="0"/>
              </a:rPr>
              <a:t>The AI guide replied like a local friend who never sleeps - a recommendation, a route, and a little reassurance. Amara realised she could simply ask Accra anything, and it would answer in her language, in seconds.</a:t>
            </a:r>
            <a:endParaRPr lang="en-US" sz="16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397000" y="5245100"/>
            <a:ext cx="114300" cy="114300"/>
          </a:xfrm>
          <a:prstGeom prst="ellipse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625600" y="5181600"/>
            <a:ext cx="980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smtClean="0">
                <a:solidFill>
                  <a:srgbClr val="FFCC00"/>
                </a:solidFill>
                <a:latin typeface="Segoe UI Semibold" panose="020B0702040204020203" pitchFamily="34" charset="0"/>
              </a:rPr>
              <a:t>Claude AI, served securely through a Supabase Edge Function - no keys ever shipped in the app.</a:t>
            </a:r>
            <a:endParaRPr lang="en-US" sz="1200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89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0" y="-1524000"/>
            <a:ext cx="6604000" cy="6604000"/>
          </a:xfrm>
          <a:prstGeom prst="ellipse">
            <a:avLst/>
          </a:prstGeom>
          <a:solidFill>
            <a:srgbClr val="FFCC00">
              <a:alpha val="11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  ·  SCENE FOUR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Slowly, Accra Stopped Feeling So Big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550" smtClean="0">
                <a:solidFill>
                  <a:srgbClr val="F5F7FA"/>
                </a:solidFill>
                <a:latin typeface="Segoe UI" panose="020B0502040204020203" pitchFamily="34" charset="0"/>
              </a:rPr>
              <a:t>She was not the first to arrive knowing no one. And the people who came before had left a trail for her to follow.</a:t>
            </a:r>
            <a:endParaRPr lang="en-US" sz="155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" y="22860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16000" y="2565400"/>
            <a:ext cx="660400" cy="6604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16000" y="25781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⚡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79600" y="25146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A living feed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9600" y="28702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Questions answered in minutes, by people who get it.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0000" y="22860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604000" y="2565400"/>
            <a:ext cx="660400" cy="6604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604000" y="25781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⭐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67600" y="25146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Honest reviews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67600" y="28702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Real photos and ratings - places worth her time.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2000" y="38354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016000" y="4114800"/>
            <a:ext cx="660400" cy="6604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16000" y="41275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📍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9600" y="40640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Hidden gems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9600" y="44196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Spots she would never have found, shared by locals.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50000" y="38354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04000" y="4114800"/>
            <a:ext cx="660400" cy="6604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604000" y="41275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❤️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67600" y="40640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A place to belong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67600" y="44196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Accra started to feel less like a city, more like a community.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8067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905000" y="4064000"/>
            <a:ext cx="6350000" cy="6350000"/>
          </a:xfrm>
          <a:prstGeom prst="ellipse">
            <a:avLst/>
          </a:prstGeom>
          <a:solidFill>
            <a:srgbClr val="4084F0">
              <a:alpha val="9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  ·  SCENE FIVE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When It Wasn't Safe, She Knew First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2006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700" smtClean="0">
                <a:solidFill>
                  <a:srgbClr val="F5F7FA"/>
                </a:solidFill>
                <a:latin typeface="Segoe UI" panose="020B0502040204020203" pitchFamily="34" charset="0"/>
              </a:rPr>
              <a:t>The map did not just show her where to go. It showed her where not to. Danger zones drawn with a real radius. Alerts that reached her before she arrived, not after. Accra felt less like a risk to survive, and more like a place she could explore.</a:t>
            </a:r>
            <a:endParaRPr lang="en-US" sz="17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62000" y="5041900"/>
            <a:ext cx="114300" cy="114300"/>
          </a:xfrm>
          <a:prstGeom prst="ellipse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90600" y="4978400"/>
            <a:ext cx="637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smtClean="0">
                <a:solidFill>
                  <a:srgbClr val="FFCC00"/>
                </a:solidFill>
                <a:latin typeface="Segoe UI Semibold" panose="020B0702040204020203" pitchFamily="34" charset="0"/>
              </a:rPr>
              <a:t>Geo-fenced safety alerts with a real radius and auto-expiry.</a:t>
            </a:r>
            <a:endParaRPr lang="en-US" sz="1200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47000" y="2222500"/>
            <a:ext cx="3683000" cy="2921000"/>
          </a:xfrm>
          <a:prstGeom prst="roundRect">
            <a:avLst>
              <a:gd name="adj" fmla="val 7000"/>
            </a:avLst>
          </a:prstGeom>
          <a:solidFill>
            <a:srgbClr val="121C2C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0A142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7000" y="3810000"/>
            <a:ext cx="3683000" cy="127000"/>
          </a:xfrm>
          <a:prstGeom prst="rect">
            <a:avLst/>
          </a:prstGeom>
          <a:solidFill>
            <a:srgbClr val="2230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398000" y="2222500"/>
            <a:ext cx="127000" cy="2921000"/>
          </a:xfrm>
          <a:prstGeom prst="rect">
            <a:avLst/>
          </a:prstGeom>
          <a:solidFill>
            <a:srgbClr val="2230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033000" y="2603500"/>
            <a:ext cx="1143000" cy="1143000"/>
          </a:xfrm>
          <a:prstGeom prst="ellipse">
            <a:avLst/>
          </a:prstGeom>
          <a:solidFill>
            <a:srgbClr val="E53935">
              <a:alpha val="38000"/>
            </a:srgbClr>
          </a:solidFill>
          <a:ln w="19050">
            <a:solidFill>
              <a:srgbClr val="E539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982200" y="3022600"/>
            <a:ext cx="1244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8A8A"/>
                </a:solidFill>
                <a:latin typeface="Segoe UI Semibold" panose="020B0702040204020203" pitchFamily="34" charset="0"/>
              </a:rPr>
              <a:t>ALERT</a:t>
            </a:r>
            <a:endParaRPr lang="en-US" sz="1000" b="1">
              <a:solidFill>
                <a:srgbClr val="FF8A8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534400" y="4191000"/>
            <a:ext cx="254000" cy="254000"/>
          </a:xfrm>
          <a:prstGeom prst="ellipse">
            <a:avLst/>
          </a:prstGeom>
          <a:solidFill>
            <a:srgbClr val="FFCC00"/>
          </a:solidFill>
          <a:ln w="19050">
            <a:solidFill>
              <a:srgbClr val="F5F7FA"/>
            </a:solidFill>
          </a:ln>
          <a:effectLst>
            <a:innerShdw blurRad="1016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026400" y="44704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Amara</a:t>
            </a:r>
            <a:endParaRPr lang="en-US" sz="11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683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0" y="-1524000"/>
            <a:ext cx="7112000" cy="7112000"/>
          </a:xfrm>
          <a:prstGeom prst="ellipse">
            <a:avLst/>
          </a:prstGeom>
          <a:solidFill>
            <a:srgbClr val="FFCC00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ACT III  ·  THREE MONTHS LATER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A Different Story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sz="1600" smtClean="0">
                <a:solidFill>
                  <a:srgbClr val="F5F7FA"/>
                </a:solidFill>
                <a:latin typeface="Segoe UI" panose="020B0502040204020203" pitchFamily="34" charset="0"/>
              </a:rPr>
              <a:t>Same city. Same Amara. A completely different experience.</a:t>
            </a:r>
            <a:endParaRPr lang="en-US" sz="16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" y="2260600"/>
            <a:ext cx="5080000" cy="3048000"/>
          </a:xfrm>
          <a:prstGeom prst="roundRect">
            <a:avLst>
              <a:gd name="adj" fmla="val 7000"/>
            </a:avLst>
          </a:prstGeom>
          <a:solidFill>
            <a:srgbClr val="241A1E"/>
          </a:solidFill>
          <a:ln w="12700">
            <a:solidFill>
              <a:srgbClr val="50343A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C121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66800" y="24638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8A8A"/>
                </a:solidFill>
                <a:latin typeface="Segoe UI Semibold" panose="020B0702040204020203" pitchFamily="34" charset="0"/>
              </a:rPr>
              <a:t>DAY ONE</a:t>
            </a:r>
            <a:endParaRPr lang="en-US" sz="1300" b="1">
              <a:solidFill>
                <a:srgbClr val="FF8A8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29210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Lost in unfamiliar streets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Overcharged at every turn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Anxious about where was safe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Far from home, and alone</a:t>
            </a:r>
            <a:endParaRPr lang="en-US" sz="15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969000" y="3530600"/>
            <a:ext cx="254000" cy="508000"/>
          </a:xfrm>
          <a:prstGeom prst="rightArrow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60000"/>
              </a:srgbClr>
            </a:inn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350000" y="2260600"/>
            <a:ext cx="5080000" cy="3048000"/>
          </a:xfrm>
          <a:prstGeom prst="roundRect">
            <a:avLst>
              <a:gd name="adj" fmla="val 7000"/>
            </a:avLst>
          </a:prstGeom>
          <a:solidFill>
            <a:srgbClr val="16281C"/>
          </a:solidFill>
          <a:ln w="12700">
            <a:solidFill>
              <a:srgbClr val="325C3A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0E201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54800" y="24638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8AE696"/>
                </a:solidFill>
                <a:latin typeface="Segoe UI Semibold" panose="020B0702040204020203" pitchFamily="34" charset="0"/>
              </a:rPr>
              <a:t>TODAY</a:t>
            </a:r>
            <a:endParaRPr lang="en-US" sz="1300" b="1">
              <a:solidFill>
                <a:srgbClr val="8AE696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54800" y="2921000"/>
            <a:ext cx="447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Moves through Accra with ease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Always pays the fair price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Explores new places freely</a:t>
            </a:r>
          </a:p>
          <a:p>
            <a:pPr marL="342900" indent="-342900">
              <a:spcAft>
                <a:spcPts val="1000"/>
              </a:spcAft>
              <a:buClr>
                <a:srgbClr val="FFCC00"/>
              </a:buClr>
              <a:buFont typeface="+mj-lt"/>
              <a:buChar char="•"/>
            </a:pPr>
            <a:r>
              <a:rPr lang="en-US" sz="1500" smtClean="0">
                <a:solidFill>
                  <a:srgbClr val="F5F7FA"/>
                </a:solidFill>
                <a:latin typeface="Segoe UI" panose="020B0502040204020203" pitchFamily="34" charset="0"/>
              </a:rPr>
              <a:t>Part of a community - at home</a:t>
            </a:r>
            <a:endParaRPr lang="en-US" sz="15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Act III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7089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96000" y="-1905000"/>
            <a:ext cx="8890000" cy="8890000"/>
          </a:xfrm>
          <a:prstGeom prst="ellipse">
            <a:avLst/>
          </a:prstGeom>
          <a:solidFill>
            <a:srgbClr val="FFCC00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2286000" y="4064000"/>
            <a:ext cx="6604000" cy="6604000"/>
          </a:xfrm>
          <a:prstGeom prst="ellipse">
            <a:avLst/>
          </a:prstGeom>
          <a:solidFill>
            <a:srgbClr val="4084F0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1905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800" smtClean="0">
                <a:solidFill>
                  <a:srgbClr val="F5F7FA"/>
                </a:solidFill>
                <a:latin typeface="Segoe UI Light" panose="020B0502040204020203" pitchFamily="34" charset="0"/>
              </a:rPr>
              <a:t>'Akwaaba' means welcome.</a:t>
            </a:r>
            <a:endParaRPr lang="en-US" sz="2800">
              <a:solidFill>
                <a:srgbClr val="F5F7FA"/>
              </a:solidFill>
              <a:latin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6000" y="2717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6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Welcome2GH makes sure Accra keeps that promise.</a:t>
            </a:r>
            <a:endParaRPr lang="en-US" sz="36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32000" y="4546600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mtClean="0">
                <a:solidFill>
                  <a:srgbClr val="F5F7FA"/>
                </a:solidFill>
                <a:latin typeface="Segoe UI Semibold" panose="020B0702040204020203" pitchFamily="34" charset="0"/>
              </a:rPr>
              <a:t>For every Amara who arrives far from home.</a:t>
            </a:r>
            <a:endParaRPr lang="en-US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2000" y="51562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300" smtClean="0">
                <a:solidFill>
                  <a:srgbClr val="96A6BC"/>
                </a:solidFill>
                <a:latin typeface="Segoe UI" panose="020B0502040204020203" pitchFamily="34" charset="0"/>
              </a:rPr>
              <a:t>Designed in Ghana's colours  ·  named for its welcome  ·  built with Adinkra spirit</a:t>
            </a:r>
            <a:endParaRPr lang="en-US" sz="13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9382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32000" y="4064000"/>
            <a:ext cx="6604000" cy="6604000"/>
          </a:xfrm>
          <a:prstGeom prst="ellipse">
            <a:avLst/>
          </a:prstGeom>
          <a:solidFill>
            <a:srgbClr val="4084F0">
              <a:alpha val="9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BEHIND THE STORY  ·  ENGINEERING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Every Scene Runs on Real Engineering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600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smtClean="0">
                <a:solidFill>
                  <a:srgbClr val="96A6BC"/>
                </a:solidFill>
                <a:latin typeface="Segoe UI" panose="020B0502040204020203" pitchFamily="34" charset="0"/>
              </a:rPr>
              <a:t>Amara is fiction. The technology behind her story is not.</a:t>
            </a:r>
            <a:endParaRPr lang="en-US" sz="14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" y="2032000"/>
            <a:ext cx="3429000" cy="3429000"/>
          </a:xfrm>
          <a:prstGeom prst="roundRect">
            <a:avLst>
              <a:gd name="adj" fmla="val 7000"/>
            </a:avLst>
          </a:prstGeom>
          <a:solidFill>
            <a:srgbClr val="1E283C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6203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95500" y="2311400"/>
            <a:ext cx="762000" cy="7620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95500" y="23241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Emoji" panose="020B0502040204020203" pitchFamily="34" charset="0"/>
              </a:rPr>
              <a:t>📱</a:t>
            </a:r>
            <a:endParaRPr lang="en-US" sz="30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3200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Frontend</a:t>
            </a:r>
            <a:endParaRPr lang="en-US" sz="12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3454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Flutter (Dart)</a:t>
            </a:r>
            <a:endParaRPr lang="en-US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39116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Android, iOS and Web from one codebase. 22 routes, Material 3 dark and light themes.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203700" y="3594100"/>
            <a:ext cx="342900" cy="304800"/>
          </a:xfrm>
          <a:prstGeom prst="rightArrow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>
            <a:innerShdw blurRad="76200" dist="38100" dir="5400000">
              <a:srgbClr val="000000">
                <a:alpha val="50000"/>
              </a:srgbClr>
            </a:inn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381500" y="2032000"/>
            <a:ext cx="3429000" cy="3429000"/>
          </a:xfrm>
          <a:prstGeom prst="roundRect">
            <a:avLst>
              <a:gd name="adj" fmla="val 7000"/>
            </a:avLst>
          </a:prstGeom>
          <a:solidFill>
            <a:srgbClr val="1A2C28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2420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715000" y="2311400"/>
            <a:ext cx="762000" cy="7620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715000" y="23241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Emoji" panose="020B0502040204020203" pitchFamily="34" charset="0"/>
              </a:rPr>
              <a:t>💾</a:t>
            </a:r>
            <a:endParaRPr lang="en-US" sz="30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1500" y="3200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Backend</a:t>
            </a:r>
            <a:endParaRPr lang="en-US" sz="12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1500" y="3454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Supabase</a:t>
            </a:r>
            <a:endParaRPr lang="en-US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10100" y="39116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Auth · PostgreSQL + PostGIS · Storage · Realtime · Edge Functions, via one service layer.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823200" y="3594100"/>
            <a:ext cx="342900" cy="304800"/>
          </a:xfrm>
          <a:prstGeom prst="rightArrow">
            <a:avLst/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>
            <a:innerShdw blurRad="76200" dist="38100" dir="5400000">
              <a:srgbClr val="000000">
                <a:alpha val="50000"/>
              </a:srgbClr>
            </a:inn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8001000" y="2032000"/>
            <a:ext cx="3429000" cy="3429000"/>
          </a:xfrm>
          <a:prstGeom prst="roundRect">
            <a:avLst>
              <a:gd name="adj" fmla="val 7000"/>
            </a:avLst>
          </a:prstGeom>
          <a:solidFill>
            <a:srgbClr val="2C2616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241E0E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334500" y="2311400"/>
            <a:ext cx="762000" cy="762000"/>
          </a:xfrm>
          <a:prstGeom prst="ellipse">
            <a:avLst/>
          </a:prstGeom>
          <a:solidFill>
            <a:srgbClr val="28220E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1812FE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334500" y="23241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smtClean="0">
                <a:solidFill>
                  <a:srgbClr val="F5F7FA"/>
                </a:solidFill>
                <a:latin typeface="Segoe UI Emoji" panose="020B0502040204020203" pitchFamily="34" charset="0"/>
              </a:rPr>
              <a:t>🌐</a:t>
            </a:r>
            <a:endParaRPr lang="en-US" sz="30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01000" y="3200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External</a:t>
            </a:r>
            <a:endParaRPr lang="en-US" sz="12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01000" y="3454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OSM · OSRM · Claude</a:t>
            </a:r>
            <a:endParaRPr lang="en-US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0" y="39116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Map tiles, real per-mode routing and the Claude AI guide - keyless where possible.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Behind the story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3298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604000" y="-1651000"/>
            <a:ext cx="7620000" cy="7620000"/>
          </a:xfrm>
          <a:prstGeom prst="ellipse">
            <a:avLst/>
          </a:prstGeom>
          <a:solidFill>
            <a:srgbClr val="FFCC00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BEHIND THE STORY  ·  PROOF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Not a Prototype. A Working Product.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3505200" cy="16764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2000" y="2108200"/>
            <a:ext cx="350520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01600">
            <a:bevelT w="50800" prst="convex"/>
            <a:extrusionClr>
              <a:srgbClr val="C49608"/>
            </a:extrusionClr>
          </a:sp3d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5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3</a:t>
            </a:r>
            <a:endParaRPr lang="en-US" sz="5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9800" y="2971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5F7FA"/>
                </a:solidFill>
                <a:latin typeface="Segoe UI" panose="020B0502040204020203" pitchFamily="34" charset="0"/>
              </a:rPr>
              <a:t>Platforms - Android, iOS &amp; Web</a:t>
            </a:r>
            <a:endParaRPr lang="en-US" sz="13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95800" y="1905000"/>
            <a:ext cx="3505200" cy="16764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95800" y="2108200"/>
            <a:ext cx="350520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01600">
            <a:bevelT w="50800" prst="convex"/>
            <a:extrusionClr>
              <a:srgbClr val="C49608"/>
            </a:extrusionClr>
          </a:sp3d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5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22</a:t>
            </a:r>
            <a:endParaRPr lang="en-US" sz="5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3600" y="2971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5F7FA"/>
                </a:solidFill>
                <a:latin typeface="Segoe UI" panose="020B0502040204020203" pitchFamily="34" charset="0"/>
              </a:rPr>
              <a:t>Navigation routes in the app</a:t>
            </a:r>
            <a:endParaRPr lang="en-US" sz="13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1905000"/>
            <a:ext cx="3505200" cy="16764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8200"/>
            <a:ext cx="350520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01600">
            <a:bevelT w="50800" prst="convex"/>
            <a:extrusionClr>
              <a:srgbClr val="C49608"/>
            </a:extrusionClr>
          </a:sp3d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5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12</a:t>
            </a:r>
            <a:endParaRPr lang="en-US" sz="5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7400" y="2971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5F7FA"/>
                </a:solidFill>
                <a:latin typeface="Segoe UI" panose="020B0502040204020203" pitchFamily="34" charset="0"/>
              </a:rPr>
              <a:t>Supabase database tables</a:t>
            </a:r>
            <a:endParaRPr lang="en-US" sz="13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2000" y="3810000"/>
            <a:ext cx="3505200" cy="16764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4013200"/>
            <a:ext cx="350520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01600">
            <a:bevelT w="50800" prst="convex"/>
            <a:extrusionClr>
              <a:srgbClr val="C49608"/>
            </a:extrusionClr>
          </a:sp3d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5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4</a:t>
            </a:r>
            <a:endParaRPr lang="en-US" sz="5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9800" y="4876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5F7FA"/>
                </a:solidFill>
                <a:latin typeface="Segoe UI" panose="020B0502040204020203" pitchFamily="34" charset="0"/>
              </a:rPr>
              <a:t>Public storage buckets</a:t>
            </a:r>
            <a:endParaRPr lang="en-US" sz="13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95800" y="3810000"/>
            <a:ext cx="3505200" cy="16764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495800" y="4013200"/>
            <a:ext cx="350520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01600">
            <a:bevelT w="50800" prst="convex"/>
            <a:extrusionClr>
              <a:srgbClr val="C49608"/>
            </a:extrusionClr>
          </a:sp3d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5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6</a:t>
            </a:r>
            <a:endParaRPr lang="en-US" sz="5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3600" y="4876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5F7FA"/>
                </a:solidFill>
                <a:latin typeface="Segoe UI" panose="020B0502040204020203" pitchFamily="34" charset="0"/>
              </a:rPr>
              <a:t>Custom onboarding illustrations</a:t>
            </a:r>
            <a:endParaRPr lang="en-US" sz="13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0" y="3810000"/>
            <a:ext cx="3505200" cy="16764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229600" y="4013200"/>
            <a:ext cx="3505200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01600">
            <a:bevelT w="50800" prst="convex"/>
            <a:extrusionClr>
              <a:srgbClr val="C49608"/>
            </a:extrusionClr>
          </a:sp3d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50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100%</a:t>
            </a:r>
            <a:endParaRPr lang="en-US" sz="50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07400" y="4876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5F7FA"/>
                </a:solidFill>
                <a:latin typeface="Segoe UI" panose="020B0502040204020203" pitchFamily="34" charset="0"/>
              </a:rPr>
              <a:t>Shared cross-platform code</a:t>
            </a:r>
            <a:endParaRPr lang="en-US" sz="1300">
              <a:solidFill>
                <a:srgbClr val="F5F7F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Behind the story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680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0000" y="-1524000"/>
            <a:ext cx="6604000" cy="6604000"/>
          </a:xfrm>
          <a:prstGeom prst="ellipse">
            <a:avLst/>
          </a:prstGeom>
          <a:solidFill>
            <a:srgbClr val="43A047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62000" y="558800"/>
            <a:ext cx="101600" cy="50800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 extrusionH="76200">
            <a:bevelT w="50800" h="50800" prst="convex"/>
            <a:extrusionClr>
              <a:srgbClr val="C49608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508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REAL &amp; SHIPPED</a:t>
            </a:r>
            <a:endParaRPr lang="en-US" sz="13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3300" y="73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900" b="1" smtClean="0">
                <a:solidFill>
                  <a:srgbClr val="F5F7FA"/>
                </a:solidFill>
                <a:latin typeface="Segoe UI Black" panose="020B0A02040204020203" pitchFamily="34" charset="0"/>
              </a:rPr>
              <a:t>Amara Is Fictional. The App Is Live.</a:t>
            </a:r>
            <a:endParaRPr lang="en-US" sz="2900" b="1">
              <a:solidFill>
                <a:srgbClr val="F5F7FA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16000" y="2184400"/>
            <a:ext cx="660400" cy="660400"/>
          </a:xfrm>
          <a:prstGeom prst="ellipse">
            <a:avLst/>
          </a:prstGeom>
          <a:solidFill>
            <a:srgbClr val="16281A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06180A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🚀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9600" y="21082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Live on the web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79600" y="24638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welcome2gh.vercel.app - auto-deploys from GitHub in under a minute.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0000" y="19050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604000" y="2184400"/>
            <a:ext cx="660400" cy="660400"/>
          </a:xfrm>
          <a:prstGeom prst="ellipse">
            <a:avLst/>
          </a:prstGeom>
          <a:solidFill>
            <a:srgbClr val="16281A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06180A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604000" y="21971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📦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67600" y="21082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Truly cross-platform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67600" y="24638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One codebase ships an Android APK, an iOS build and a hosted web app.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2000" y="34290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16000" y="3708400"/>
            <a:ext cx="660400" cy="660400"/>
          </a:xfrm>
          <a:prstGeom prst="ellipse">
            <a:avLst/>
          </a:prstGeom>
          <a:solidFill>
            <a:srgbClr val="16281A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06180A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16000" y="37211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⚙️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9600" y="36322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One-command deploy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9600" y="39878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A single script runs analyze, tests and the web build, then pushes.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50000" y="3429000"/>
            <a:ext cx="5080000" cy="13208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604000" y="3708400"/>
            <a:ext cx="660400" cy="660400"/>
          </a:xfrm>
          <a:prstGeom prst="ellipse">
            <a:avLst/>
          </a:prstGeom>
          <a:solidFill>
            <a:srgbClr val="16281A"/>
          </a:solidFill>
          <a:ln w="12700" cap="flat" cmpd="sng" algn="ctr">
            <a:noFill/>
            <a:prstDash val="solid"/>
            <a:miter lim="800000"/>
          </a:ln>
          <a:effectLst>
            <a:innerShdw blurRad="101600" dist="50800" dir="5400000">
              <a:srgbClr val="000000">
                <a:alpha val="50000"/>
              </a:srgbClr>
            </a:innerShdw>
          </a:effectLst>
          <a:scene3d>
            <a:camera prst="orthographicFront"/>
            <a:lightRig rig="threePt" dir="t"/>
          </a:scene3d>
          <a:sp3d extrusionH="50800">
            <a:bevelT w="50800" h="50800" prst="convex"/>
            <a:extrusionClr>
              <a:srgbClr val="06180A"/>
            </a:extrusionClr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604000" y="37211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smtClean="0">
                <a:solidFill>
                  <a:srgbClr val="F5F7FA"/>
                </a:solidFill>
                <a:latin typeface="Segoe UI Emoji" panose="020B0502040204020203" pitchFamily="34" charset="0"/>
              </a:rPr>
              <a:t>🧪</a:t>
            </a:r>
            <a:endParaRPr lang="en-US" sz="2600">
              <a:solidFill>
                <a:srgbClr val="F5F7FA"/>
              </a:solidFill>
              <a:latin typeface="Segoe UI Emoj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67600" y="36322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Tested foundations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67600" y="39878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smtClean="0">
                <a:solidFill>
                  <a:srgbClr val="96A6BC"/>
                </a:solidFill>
                <a:latin typeface="Segoe UI" panose="020B0502040204020203" pitchFamily="34" charset="0"/>
              </a:rPr>
              <a:t>Unit tests cover the geo-math and marker-layout core of the map.</a:t>
            </a:r>
            <a:endParaRPr lang="en-US" sz="125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2000" y="5054600"/>
            <a:ext cx="10668000" cy="7112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066800" y="5054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FFCC00"/>
                </a:solidFill>
                <a:latin typeface="Segoe UI Semibold" panose="020B0702040204020203" pitchFamily="34" charset="0"/>
              </a:rPr>
              <a:t>WHAT'S NEXT:  Google OAuth  ·  deploy the AI guide  ·  secure the admin secret  ·  push notifications  ·  real-device QA</a:t>
            </a:r>
            <a:endParaRPr lang="en-US" sz="1300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000" y="6502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96A6BC"/>
                </a:solidFill>
                <a:latin typeface="Segoe UI" panose="020B0502040204020203" pitchFamily="34" charset="0"/>
              </a:rPr>
              <a:t>Welcome2GH  ·  Amara's Journey</a:t>
            </a:r>
            <a:endParaRPr lang="en-US" sz="1000">
              <a:solidFill>
                <a:srgbClr val="96A6BC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82000" y="65024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00" smtClean="0">
                <a:solidFill>
                  <a:srgbClr val="FFCC00"/>
                </a:solidFill>
                <a:latin typeface="Segoe UI" panose="020B0502040204020203" pitchFamily="34" charset="0"/>
              </a:rPr>
              <a:t>Real &amp; shipped</a:t>
            </a:r>
            <a:endParaRPr lang="en-US" sz="10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5237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6263A"/>
            </a:gs>
            <a:gs pos="100000">
              <a:srgbClr val="060D1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096000" y="-1778000"/>
            <a:ext cx="8890000" cy="8890000"/>
          </a:xfrm>
          <a:prstGeom prst="ellipse">
            <a:avLst/>
          </a:prstGeom>
          <a:solidFill>
            <a:srgbClr val="FFCC00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-2286000" y="4064000"/>
            <a:ext cx="6858000" cy="6858000"/>
          </a:xfrm>
          <a:prstGeom prst="ellipse">
            <a:avLst/>
          </a:prstGeom>
          <a:solidFill>
            <a:srgbClr val="4084F0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812800"/>
            <a:ext cx="1016000" cy="977900"/>
          </a:xfrm>
          <a:prstGeom prst="rect">
            <a:avLst/>
          </a:prstGeom>
          <a:effectLst>
            <a:innerShdw blurRad="228600" dist="101600" dir="5400000">
              <a:srgbClr val="000000">
                <a:alpha val="60000"/>
              </a:srgbClr>
            </a:innerShdw>
          </a:effectLst>
        </p:spPr>
      </p:pic>
      <p:sp>
        <p:nvSpPr>
          <p:cNvPr id="5" name="TextBox 4"/>
          <p:cNvSpPr txBox="1"/>
          <p:nvPr/>
        </p:nvSpPr>
        <p:spPr>
          <a:xfrm>
            <a:off x="2256808" y="2236113"/>
            <a:ext cx="7678384" cy="86177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177800">
            <a:bevelT prst="convex"/>
            <a:extrusionClr>
              <a:srgbClr val="C49608"/>
            </a:extrusionClr>
          </a:sp3d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en-US" sz="5600" b="1" smtClean="0">
                <a:solidFill>
                  <a:srgbClr val="FFCC00"/>
                </a:solidFill>
                <a:latin typeface="Segoe UI Black" panose="020B0A02040204020203" pitchFamily="34" charset="0"/>
              </a:rPr>
              <a:t>Akwaaba - Thank You</a:t>
            </a:r>
            <a:endParaRPr lang="en-US" sz="5600" b="1">
              <a:solidFill>
                <a:srgbClr val="FFCC00"/>
              </a:solidFill>
              <a:latin typeface="Segoe UI Black" panose="020B0A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1000" y="3556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mtClean="0">
                <a:solidFill>
                  <a:srgbClr val="F5F7FA"/>
                </a:solidFill>
                <a:latin typeface="Segoe UI Semibold" panose="020B0702040204020203" pitchFamily="34" charset="0"/>
              </a:rPr>
              <a:t>Every newcomer deserves to feel at home.</a:t>
            </a:r>
            <a:endParaRPr lang="en-US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56000" y="4254500"/>
            <a:ext cx="5080000" cy="889000"/>
          </a:xfrm>
          <a:prstGeom prst="roundRect">
            <a:avLst>
              <a:gd name="adj" fmla="val 7000"/>
            </a:avLst>
          </a:prstGeom>
          <a:solidFill>
            <a:srgbClr val="1A2535"/>
          </a:solidFill>
          <a:ln w="12700">
            <a:solidFill>
              <a:srgbClr val="28364C"/>
            </a:solidFill>
          </a:ln>
          <a:effectLst>
            <a:innerShdw blurRad="177800" dist="101600" dir="5400000">
              <a:srgbClr val="000000">
                <a:alpha val="45000"/>
              </a:srgbClr>
            </a:innerShdw>
          </a:effectLst>
          <a:scene3d>
            <a:camera prst="orthographicFront"/>
            <a:lightRig rig="threePt" dir="t"/>
          </a:scene3d>
          <a:sp3d extrusionH="88900">
            <a:bevelT w="63500" h="50800" prst="relaxedInset"/>
            <a:extrusionClr>
              <a:srgbClr val="121D2D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10000" y="43561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 b="1" smtClean="0">
                <a:solidFill>
                  <a:srgbClr val="F5F7FA"/>
                </a:solidFill>
                <a:latin typeface="Segoe UI Semibold" panose="020B0702040204020203" pitchFamily="34" charset="0"/>
              </a:rPr>
              <a:t>Mohamed  ·  WIUC, Accra</a:t>
            </a:r>
            <a:endParaRPr lang="en-US" sz="1600" b="1">
              <a:solidFill>
                <a:srgbClr val="F5F7F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0" y="467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 smtClean="0">
                <a:solidFill>
                  <a:srgbClr val="FFCC00"/>
                </a:solidFill>
                <a:latin typeface="Segoe UI" panose="020B0502040204020203" pitchFamily="34" charset="0"/>
              </a:rPr>
              <a:t>welcome2gh.vercel.app</a:t>
            </a:r>
            <a:endParaRPr lang="en-US" sz="1300">
              <a:solidFill>
                <a:srgbClr val="FFCC0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6000" y="5461000"/>
            <a:ext cx="1016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smtClean="0">
                <a:solidFill>
                  <a:srgbClr val="FFCC00"/>
                </a:solidFill>
                <a:latin typeface="Segoe UI Semibold" panose="020B0702040204020203" pitchFamily="34" charset="0"/>
              </a:rPr>
              <a:t>Questions?</a:t>
            </a:r>
            <a:endParaRPr lang="en-US" sz="2200" b="1">
              <a:solidFill>
                <a:srgbClr val="FFCC00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3545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fallOver" invX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Office PowerPoint</Application>
  <PresentationFormat>Custom</PresentationFormat>
  <Paragraphs>169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Segoe UI</vt:lpstr>
      <vt:lpstr>Segoe UI Black</vt:lpstr>
      <vt:lpstr>Segoe UI Emoji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Medmo Med</dc:creator>
  <cp:lastModifiedBy>Medmo Med</cp:lastModifiedBy>
  <cp:revision>1</cp:revision>
  <dcterms:created xsi:type="dcterms:W3CDTF">2026-06-05T14:36:00Z</dcterms:created>
  <dcterms:modified xsi:type="dcterms:W3CDTF">2026-06-05T14:36:00Z</dcterms:modified>
</cp:coreProperties>
</file>